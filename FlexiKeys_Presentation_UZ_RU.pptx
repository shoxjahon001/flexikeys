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 / NUTQ / РЕЧЬ
UZ: "Assalomu alaykum, men FlexiKeys jamoasidan. Bugun biz bolalarga yozishni va raqamli dunyoni o'rganishga yordam beradigan, ayniqsa harakat qiyinchiliklari bo'lgan bolalar uchun yaratilgan ilovamizni tanishtiramiz."
RU: "Здравствуйте, меня зовут ... я представляю команду FlexiKeys. Сегодня мы расскажем о платформе, которая помогает детям — особенно с двигательными трудностями — учиться печатать и осваивать цифровой мир."
TIMING: ~1 minute
VISUALS: Logo + mascot already on slide. No screenshot needed.
TRANSITION: "Let's start with the child, not the app — here's the problem we're solving." / "Ilovadan emas, muammodan boshlaymiz."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UZ: "Bolalar falaji bolalikdagi eng ko'p uchraydigan harakat nogironligi. Bu spektr — har bir bola turlicha qiyinchilikka ega, va ko'pincha ko'rish, eshitish yoki diqqat bilan bog'liq qo'shimcha farqlar ham bo'ladi. Ekranga tegish - aniqlik, tremor va charchoq tufayli qiyin bo'lishi mumkin."
RU: "ДЦП — самое распространённое двигательное нарушение детства. Это спектр: у каждого ребёнка разная степень трудностей, часто есть особенности зрения, слуха или внимания. Прикосновение к экрану может быть трудным из-за точности, тремора и усталости."
TIMING: ~2.5 minutes
VISUALS: none needed — text/citation slide.
TRANSITION: "So how well do existing tools solve this today? Honestly — not well enough." / "Mavjud yechimlar buni qanchalik hal qiladi? Ochig'ini aytsak — yetarli emas."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UZ: "Bugungi ilovalar ko'pincha hammaga bir xil tezlik va aniqlikni talab qiladi, yoki nogironlik uchun alohida, stigmatizatsiya qiluvchi rejimga ega. Bu FlexiKeys yaratishga turtki bo'ldi."
RU: "Сегодняшние приложения часто требуют одинаковой скорости и точности от всех, либо предлагают отдельный, стигматизирующий режим для детей с особенностями. Именно это подтолкнуло нас создать FlexiKeys."
TIMING: ~1.5 minutes
VISUALS: none.
TRANSITION: "That's the gap FlexiKeys was built to close. Let's introduce it." / "Aynan shu bo'shliqni FlexiKeys yopish uchun yaratildi."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UZ: "FlexiKeys — bu 3 dan 10 yoshgacha bo'lgan bolalarga yozish va raqamli muloqotni o'rgatadigan ilova. U birinchi navbatda harakat qiyinchiligi bo'lgan bolalar uchun yaratilgan, lekin har qanday bola uchun ajoyib ishlaydi. Eng muhimi — moslashish avtomatik, ota-ona hech narsa sozlamaydi."
RU: "FlexiKeys — это приложение, которое учит детей от 3 до 10 лет печати и цифровому общению. Оно создано в первую очередь для детей с двигательными трудностями, но отлично работает для любого ребёнка. Главное — адаптация происходит автоматически, родителю не нужно ничего настраивать."
TIMING: ~1.5 minutes
VISUALS: none — next slide shows the real product.
TRANSITION: "Let's stop talking about it and show you the real, working app." / "Endi gapirishni to'xtatib, haqiqiy ilovani ko'rsatamiz."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STATUS: Learning, Keyboard, and AI Assistant now show real screenshots. Home, Parent Dashboard, and Progress are still placeholders — add those 3 screenshots before presenting; do not present with placeholder frames visible.
TALK TRACK (once all screenshots are in place)
UZ: "Bu — biz gapirayotgan emas, haqiqatda ishlaydigan ilova. Bosh sahifadan boshlab, ta'lim, moslashuvchan klaviatura, ota-ona paneli, AI-yordamchi va taraqqiyot sahifalarini ko'ramiz."
RU: "Это не концепт — это реально работающее приложение. Пройдёмся по главному экрану, обучению, адаптивной клавиатуре, панели родителя, ИИ-помощнику и прогрессу."
TIMING: ~3-4 minutes (walk through each screen live if possible)
VISUALS: Home, Learning, Keyboard, Parent Dashboard, AI Assistant, Progress screenshots.
TRANSITION: "Now that you've seen it — here's how it all fits together for a family." / "Endi ko'rdingiz — bu oila uchun qanday ishlashini ko'rib chiqamiz."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UZ: "Bola o'rganadi, mashq qiladi, mukofot oladi — va bu davomida tizim uning taraqqiyotini kuzatib, ota-onaga tushunarli tilda ko'rsatadi. Bu tsikl har doim aylanadi va moslashuv asta-sekin yaxshilanadi."
RU: "Ребёнок учится, практикуется, получает награды — а система в это время отслеживает прогресс и показывает его родителю понятным языком. Этот цикл повторяется, и адаптация постепенно улучшается."
TIMING: ~1 minute
VISUALS: none — diagram slide.
TRANSITION: "Here's the full feature set behind that loop." / "Ushbu sikl ortida turgan barcha funksiyalar mana bu yerda."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UZ: "Yettita asosiy imkoniyat — moslashuvchan o'rganish, qulay klaviatura, o'yinlashtirish, taraqqiyotni kuzatish, ota-ona paneli, AI-yordamchi va uch tilda ishlash."
RU: "Семь ключевых возможностей: адаптивное обучение, доступная клавиатура, геймификация, отслеживание прогресса, родительская панель, ИИ-помощник и поддержка трёх языков."
TIMING: ~1.5 minutes
VISUALS: none.
TRANSITION: "Who is this actually for, beyond the child?" / "Bu kimlarga foyda keltiradi — bolagina emas?"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UZ: "FlexiKeys nafaqat bolalarga — balki ota-onalarga, reabilitatsiya markazlariga, inklyuziv maktablarga, logopedlarga va ergoterapevtlarga ham foydali."
RU: "FlexiKeys полезен не только детям — но и родителям, реабилитационным центрам, инклюзивным школам, логопедам и эрготерапевтам."
TIMING: ~1 minute
VISUALS: none.
TRANSITION: "This is exactly why we're inviting you into testing now." / "Aynan shuning uchun biz sizni hozir sinovga taklif qilyapmiz."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UZ: "Biz hali yakuniy natijalarni e'lon qilmayapmiz — chunki sinov hali boshlanmoqda. Bu yerga faqat haqiqiy fotosurat, video va fikrlar sinovdan so'ng qo'shiladi."
RU: "Мы пока не объявляем результаты — тестирование только начинается. Сюда будут добавлены только реальные фото, видео и отзывы после теста."
TIMING: ~1.5 minutes
VISUALS: none yet — to be filled after testing round.
TRANSITION: "Beyond this pilot, here's the bigger picture we're working toward." / "Ushbu sinovdan tashqari, biz intilayotgan katta maqsad haqida gapiraylik."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UZ: "Bizning uzoq muddatli maqsadimiz — ta'limni hamma uchun ochiq qilish, raqamli mustaqillikni ta'minlash va bola bilan birga o'sadigan texnologiya yaratish."
RU: "Наша долгосрочная миссия — сделать образование доступным каждому, обеспечить цифровую самостоятельность и создать технологию, растущую вместе с ребёнком."
TIMING: ~1 minute
VISUALS: none.
TRANSITION: "Thank you — here's how to reach us and get involved." / "Rahmat — biz bilan bog'lanish va ishtirok etish yo'llari mana bu yerda."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UZ: "Rahmat — agar oilangiz yoki tashkilotingiz sinovda ishtirok etishni xohlasa, biz bilan bog'laning."
RU: "Спасибо — если ваша семья или организация хочет принять участие в тестировании, свяжитесь с нами."
TIMING: ~1 minute + Q&amp;A
VISUALS: add real website URL, Telegram handle, Instagram handle, contact email, and QR code before presenting.
TRANSITION: Open the floor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1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943600" cy="5943600"/>
          </a:xfrm>
          <a:prstGeom prst="ellipse">
            <a:avLst/>
          </a:prstGeom>
          <a:solidFill>
            <a:srgbClr val="6C63E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5486400" cy="5486400"/>
          </a:xfrm>
          <a:prstGeom prst="ellipse">
            <a:avLst/>
          </a:prstGeom>
          <a:solidFill>
            <a:srgbClr val="E0567B">
              <a:alpha val="18000"/>
            </a:srgbClr>
          </a:solidFill>
          <a:ln/>
        </p:spPr>
      </p:sp>
      <p:pic>
        <p:nvPicPr>
          <p:cNvPr id="4" name="Image 0" descr="assets/cloud_masc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5796" y="685800"/>
            <a:ext cx="1737360" cy="1737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51460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FlexiKeys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0" y="35204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bola o‘z sur’atida o‘rganadi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0" y="3913632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ребёнок учится в своём темпе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88636" y="4526280"/>
            <a:ext cx="2011680" cy="0"/>
          </a:xfrm>
          <a:prstGeom prst="line">
            <a:avLst/>
          </a:prstGeom>
          <a:noFill/>
          <a:ln w="12700">
            <a:solidFill>
              <a:srgbClr val="463D7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63040" y="4800600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qiyinchiliklari bo‘lgan bolalar uchun birinchi bo‘lib yaratilgan — va har qanday bola uchun ajoyib bo‘lgan moslashuvchan ta’lim platformasi.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63040" y="5303520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9C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Адаптивная образовательная платформа, созданная в первую очередь для детей с двигательными трудностями — и одинаково прекрасная для любого ребёнка.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0" y="617220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Ota-onalar · Reabilitatsiya markazlari · Inklyuziv maktablar · Logopedlar · Ergoterapevtlar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0" y="644652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Родители · Реабилитационные центры · Инклюзивные школы · Логопеды · Эрготерапевты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Muammo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66928" cy="566928"/>
          </a:xfrm>
          <a:prstGeom prst="ellipse">
            <a:avLst/>
          </a:prstGeom>
          <a:solidFill>
            <a:srgbClr val="6C63E0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4173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Bolalar falaji (BF) — bolalikdagi eng ko‘p uchraydigan harakat nogironligi bo‘lib, harakat va muvozanatga ta’sir qiladi.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46520" y="14173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Церебральный паралич (ДЦП) — самое распространённое двигательное нарушение детства, влияющее на движение и равновесие.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371600" y="2240280"/>
            <a:ext cx="9921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2679192"/>
            <a:ext cx="566928" cy="566928"/>
          </a:xfrm>
          <a:prstGeom prst="ellipse">
            <a:avLst/>
          </a:prstGeom>
          <a:solidFill>
            <a:srgbClr val="4A90D9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679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258775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 — bu spektr: ko‘pgina bolalarda nutq, ko‘rish, eshitish yoki diqqatga oid qo‘shimcha farqlar ham uchraydi.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46520" y="258775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ДЦП — это спектр: у многих детей также есть особенности речи, зрения, слуха или внимания.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371600" y="3410712"/>
            <a:ext cx="9921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Damiano et al., 2021 · PMC9619294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3849624"/>
            <a:ext cx="566928" cy="566928"/>
          </a:xfrm>
          <a:prstGeom prst="ellipse">
            <a:avLst/>
          </a:prstGeom>
          <a:solidFill>
            <a:srgbClr val="E0567B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8496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71600" y="3758184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Ekranga tegish past aniqlik, tremor, sekin harakat va tez charchash sababli qiyinlashishi mumkin.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46520" y="3758184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Прикосновение к экрану может быть затруднено из-за низкой точности, тремора, медленных движений и быстрой усталости.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371600" y="4581144"/>
            <a:ext cx="9921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FlexiKeys domain knowledge base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8640" y="5020056"/>
            <a:ext cx="566928" cy="566928"/>
          </a:xfrm>
          <a:prstGeom prst="ellipse">
            <a:avLst/>
          </a:prstGeom>
          <a:solidFill>
            <a:srgbClr val="9C27B0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5020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71600" y="4928616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Kognitiv va aloqa ehtiyojlariga mo‘ljallangan yordamchi texnologiya yo‘riqnomalari hamon yetarli emas.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46520" y="4928616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Рекомендаций по вспомогательным технологиям для когнитивных и коммуникативных потребностей всё ещё недостаточно.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371600" y="5751576"/>
            <a:ext cx="9921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&amp; Borg, 2025 · doi:10.3389/fresc.2025.1581104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48640" y="62910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Manbalar / Источники: CDC — Cerebral Palsy; Damiano et al. (2021) PMC9619294; Zhang &amp; Borg (2025) doi:10.3389/fresc.2025.1581104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Mavjud yechimlar nega yetarli emas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существующих решений недостаточно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1051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6C63E0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75564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Ko‘pchilik ta’lim ilovalari “hammaga bitta o‘lcham” tamoyilida ishlaydi — moslashish uchun mo‘ljallanmagan.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Большинство обучающих приложений построены по принципу «один размер для всех» — без настоящей адаптации.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394960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7960" y="181051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0567B"/>
          </a:solidFill>
          <a:ln/>
        </p:spPr>
      </p:sp>
      <p:sp>
        <p:nvSpPr>
          <p:cNvPr id="10" name="Text 8"/>
          <p:cNvSpPr/>
          <p:nvPr/>
        </p:nvSpPr>
        <p:spPr>
          <a:xfrm>
            <a:off x="7178040" y="175564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Nogironlik uchun alohida “rejim” bolani ajratib qo‘yadi va stigma yaratadi.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37960" y="26060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Отдельный «режим для особых детей» выделяет ребёнка и создаёт стигму.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394960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05079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FC107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399592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Ko‘p ilovalar tezlik va aniqlikni talab qiladi — bu harakat qiyinchiligi bo‘lgan bolani boshidanoq “yutqazuvchi” qiladi.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48463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Многие приложения требуют скорости и точности — ребёнок с двигательными трудностями заранее оказывается «проигравшим».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3794760"/>
            <a:ext cx="5394960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37960" y="405079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9C27B0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399592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Kognitiv va aloqa ehtiyojlariga moslashtirilgan sifatli yechimlar hamon kam.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37960" y="48463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Решений, продуманно адаптированных под когнитивные и коммуникативные потребности, по-прежнему мало.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FlexiKeys bilan tanishing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Знакомьтесь: FlexiKeys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4297680"/>
          </a:xfrm>
          <a:prstGeom prst="roundRect">
            <a:avLst>
              <a:gd name="adj" fmla="val 4615"/>
            </a:avLst>
          </a:prstGeom>
          <a:solidFill>
            <a:srgbClr val="E8ECFA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0" y="1874520"/>
            <a:ext cx="640080" cy="640080"/>
          </a:xfrm>
          <a:prstGeom prst="ellipse">
            <a:avLst/>
          </a:prstGeom>
          <a:solidFill>
            <a:srgbClr val="6C63E0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Nima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3–10 yoshli bolalarga yozish, savodxonlik va raqamli muloqotni o‘rgatadigan moslashuvchan platforma.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6634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Адаптивная платформа, обучающая детей 3–10 лет печати, грамотности и цифровому взаимодействию.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34840" y="1600200"/>
            <a:ext cx="3566160" cy="4297680"/>
          </a:xfrm>
          <a:prstGeom prst="roundRect">
            <a:avLst>
              <a:gd name="adj" fmla="val 4615"/>
            </a:avLst>
          </a:prstGeom>
          <a:solidFill>
            <a:srgbClr val="E8ECFA"/>
          </a:solidFill>
          <a:ln/>
        </p:spPr>
      </p:sp>
      <p:sp>
        <p:nvSpPr>
          <p:cNvPr id="12" name="Shape 10"/>
          <p:cNvSpPr/>
          <p:nvPr/>
        </p:nvSpPr>
        <p:spPr>
          <a:xfrm>
            <a:off x="5897880" y="1874520"/>
            <a:ext cx="640080" cy="640080"/>
          </a:xfrm>
          <a:prstGeom prst="ellipse">
            <a:avLst/>
          </a:prstGeom>
          <a:solidFill>
            <a:srgbClr val="E0567B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9788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63440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Kim uchun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63440" y="3063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кого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35204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Birinchi navbatda bolalar falaji va boshqa harakat qiyinchiliklari bo‘lgan bolalar uchun — va har qanday bola uchun bab-baravar ishlaydi.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46634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первую очередь для детей с ДЦП и другими двигательными трудностями — и одинаково хорошо работает для любого ребёнка.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321040" y="1600200"/>
            <a:ext cx="3566160" cy="4297680"/>
          </a:xfrm>
          <a:prstGeom prst="roundRect">
            <a:avLst>
              <a:gd name="adj" fmla="val 4615"/>
            </a:avLst>
          </a:prstGeom>
          <a:solidFill>
            <a:srgbClr val="E8ECFA"/>
          </a:solidFill>
          <a:ln/>
        </p:spPr>
      </p:sp>
      <p:sp>
        <p:nvSpPr>
          <p:cNvPr id="19" name="Shape 17"/>
          <p:cNvSpPr/>
          <p:nvPr/>
        </p:nvSpPr>
        <p:spPr>
          <a:xfrm>
            <a:off x="9784080" y="1874520"/>
            <a:ext cx="640080" cy="640080"/>
          </a:xfrm>
          <a:prstGeom prst="ellipse">
            <a:avLst/>
          </a:prstGeom>
          <a:solidFill>
            <a:srgbClr val="4CAF50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78408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549640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Qanday yordam beradi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49640" y="3063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помогает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95360" y="35204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Klaviatura, mashqlar va sur’at har bir bolaning real natijasiga qarab avtomatik moslashadi — sozlash shart emas.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95360" y="46634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Клавиатура, упражнения и темп автоматически подстраиваются под реальные результаты ребёнка — без ручных настроек.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Mahsulot namoyishi — haqiqiy ilova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Демонстрация продукта — реальное приложение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520440" cy="2331720"/>
          </a:xfrm>
          <a:prstGeom prst="roundRect">
            <a:avLst>
              <a:gd name="adj" fmla="val 5490"/>
            </a:avLst>
          </a:prstGeom>
          <a:solidFill>
            <a:srgbClr val="E8ECFA"/>
          </a:solidFill>
          <a:ln w="15875">
            <a:solidFill>
              <a:srgbClr val="C7CCEB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897380" y="1757477"/>
            <a:ext cx="731520" cy="453542"/>
          </a:xfrm>
          <a:prstGeom prst="roundRect">
            <a:avLst>
              <a:gd name="adj" fmla="val 10081"/>
            </a:avLst>
          </a:prstGeom>
          <a:solidFill>
            <a:srgbClr val="FFFFFF"/>
          </a:solidFill>
          <a:ln w="19050">
            <a:solidFill>
              <a:srgbClr val="AEB4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99793" y="1830044"/>
            <a:ext cx="102413" cy="102413"/>
          </a:xfrm>
          <a:prstGeom prst="ellipse">
            <a:avLst/>
          </a:prstGeom>
          <a:solidFill>
            <a:srgbClr val="AEB4E0"/>
          </a:solidFill>
          <a:ln/>
        </p:spPr>
      </p:sp>
      <p:sp>
        <p:nvSpPr>
          <p:cNvPr id="7" name="Shape 5"/>
          <p:cNvSpPr/>
          <p:nvPr/>
        </p:nvSpPr>
        <p:spPr>
          <a:xfrm>
            <a:off x="1955902" y="1902610"/>
            <a:ext cx="365760" cy="226771"/>
          </a:xfrm>
          <a:prstGeom prst="triangle">
            <a:avLst/>
          </a:prstGeom>
          <a:solidFill>
            <a:srgbClr val="AEB4E0"/>
          </a:solidFill>
          <a:ln/>
        </p:spPr>
      </p:sp>
      <p:sp>
        <p:nvSpPr>
          <p:cNvPr id="8" name="Shape 6"/>
          <p:cNvSpPr/>
          <p:nvPr/>
        </p:nvSpPr>
        <p:spPr>
          <a:xfrm>
            <a:off x="2204618" y="1857256"/>
            <a:ext cx="336499" cy="281196"/>
          </a:xfrm>
          <a:prstGeom prst="triangle">
            <a:avLst/>
          </a:prstGeom>
          <a:solidFill>
            <a:srgbClr val="AEB4E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44144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Skrinshot qo‘shiladi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 будет добавлен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67512" y="292608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6C63E0"/>
          </a:solidFill>
          <a:ln/>
        </p:spPr>
      </p:sp>
      <p:sp>
        <p:nvSpPr>
          <p:cNvPr id="11" name="Text 9"/>
          <p:cNvSpPr/>
          <p:nvPr/>
        </p:nvSpPr>
        <p:spPr>
          <a:xfrm>
            <a:off x="1069848" y="28986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Bosh sahifa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69848" y="31546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экран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" y="339242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Bolaning shaxsiy o‘yin maydoni va maskot.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67512" y="355701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Личное игровое пространство ребёнка и маскот.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343400" y="1417320"/>
            <a:ext cx="3520440" cy="2331720"/>
          </a:xfrm>
          <a:prstGeom prst="roundRect">
            <a:avLst>
              <a:gd name="adj" fmla="val 5490"/>
            </a:avLst>
          </a:prstGeom>
          <a:solidFill>
            <a:srgbClr val="E8ECFA"/>
          </a:solidFill>
          <a:ln w="15875">
            <a:solidFill>
              <a:srgbClr val="D7DA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8721" y="1472184"/>
            <a:ext cx="669798" cy="1399032"/>
          </a:xfrm>
          <a:prstGeom prst="roundRect">
            <a:avLst>
              <a:gd name="adj" fmla="val 12287"/>
            </a:avLst>
          </a:prstGeom>
          <a:solidFill>
            <a:srgbClr val="1B1830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pic>
        <p:nvPicPr>
          <p:cNvPr id="17" name="Image 0" descr="assets/screens/learnin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05297" y="1508760"/>
            <a:ext cx="596646" cy="132588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4507992" y="292608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4A90D9"/>
          </a:solidFill>
          <a:ln/>
        </p:spPr>
      </p:sp>
      <p:sp>
        <p:nvSpPr>
          <p:cNvPr id="19" name="Text 16"/>
          <p:cNvSpPr/>
          <p:nvPr/>
        </p:nvSpPr>
        <p:spPr>
          <a:xfrm>
            <a:off x="4910328" y="28986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Ta’lim sahifasi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910328" y="31546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 обучения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507992" y="339242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daraja: harflar, raqamlar, hayvonlar va boshqalar.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507992" y="355701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уровней: буквы, цифры, животные и другое.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8183880" y="1417320"/>
            <a:ext cx="3520440" cy="2331720"/>
          </a:xfrm>
          <a:prstGeom prst="roundRect">
            <a:avLst>
              <a:gd name="adj" fmla="val 5490"/>
            </a:avLst>
          </a:prstGeom>
          <a:solidFill>
            <a:srgbClr val="E8ECFA"/>
          </a:solidFill>
          <a:ln w="15875">
            <a:solidFill>
              <a:srgbClr val="D7DA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609201" y="1472184"/>
            <a:ext cx="669798" cy="1399032"/>
          </a:xfrm>
          <a:prstGeom prst="roundRect">
            <a:avLst>
              <a:gd name="adj" fmla="val 12287"/>
            </a:avLst>
          </a:prstGeom>
          <a:solidFill>
            <a:srgbClr val="1B1830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pic>
        <p:nvPicPr>
          <p:cNvPr id="25" name="Image 1" descr="assets/screens/keyboard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645777" y="1508760"/>
            <a:ext cx="596646" cy="132588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8348472" y="292608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E0567B"/>
          </a:solidFill>
          <a:ln/>
        </p:spPr>
      </p:sp>
      <p:sp>
        <p:nvSpPr>
          <p:cNvPr id="27" name="Text 23"/>
          <p:cNvSpPr/>
          <p:nvPr/>
        </p:nvSpPr>
        <p:spPr>
          <a:xfrm>
            <a:off x="8750808" y="28986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Moslashuvchan klaviatura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8750808" y="31546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Адаптивная клавиатура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8348472" y="339242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Harf plitkalari va tovush bilan mashq — bola sur’atiga moslashadi.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8348472" y="355701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Плитки букв и практика со звуком — подстраивается под темп ребёнка.</a:t>
            </a:r>
            <a:endParaRPr lang="en-US" sz="750" dirty="0"/>
          </a:p>
        </p:txBody>
      </p:sp>
      <p:sp>
        <p:nvSpPr>
          <p:cNvPr id="31" name="Shape 27"/>
          <p:cNvSpPr/>
          <p:nvPr/>
        </p:nvSpPr>
        <p:spPr>
          <a:xfrm>
            <a:off x="502920" y="3977640"/>
            <a:ext cx="3520440" cy="2331720"/>
          </a:xfrm>
          <a:prstGeom prst="roundRect">
            <a:avLst>
              <a:gd name="adj" fmla="val 5490"/>
            </a:avLst>
          </a:prstGeom>
          <a:solidFill>
            <a:srgbClr val="E8ECFA"/>
          </a:solidFill>
          <a:ln w="15875">
            <a:solidFill>
              <a:srgbClr val="C7CCEB"/>
            </a:solidFill>
            <a:prstDash val="dash"/>
          </a:ln>
        </p:spPr>
      </p:sp>
      <p:sp>
        <p:nvSpPr>
          <p:cNvPr id="32" name="Shape 28"/>
          <p:cNvSpPr/>
          <p:nvPr/>
        </p:nvSpPr>
        <p:spPr>
          <a:xfrm>
            <a:off x="1897380" y="4317797"/>
            <a:ext cx="731520" cy="453542"/>
          </a:xfrm>
          <a:prstGeom prst="roundRect">
            <a:avLst>
              <a:gd name="adj" fmla="val 10081"/>
            </a:avLst>
          </a:prstGeom>
          <a:solidFill>
            <a:srgbClr val="FFFFFF"/>
          </a:solidFill>
          <a:ln w="19050">
            <a:solidFill>
              <a:srgbClr val="AEB4E0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999793" y="4390364"/>
            <a:ext cx="102413" cy="102413"/>
          </a:xfrm>
          <a:prstGeom prst="ellipse">
            <a:avLst/>
          </a:prstGeom>
          <a:solidFill>
            <a:srgbClr val="AEB4E0"/>
          </a:solidFill>
          <a:ln/>
        </p:spPr>
      </p:sp>
      <p:sp>
        <p:nvSpPr>
          <p:cNvPr id="34" name="Shape 30"/>
          <p:cNvSpPr/>
          <p:nvPr/>
        </p:nvSpPr>
        <p:spPr>
          <a:xfrm>
            <a:off x="1955902" y="4462930"/>
            <a:ext cx="365760" cy="226771"/>
          </a:xfrm>
          <a:prstGeom prst="triangle">
            <a:avLst/>
          </a:prstGeom>
          <a:solidFill>
            <a:srgbClr val="AEB4E0"/>
          </a:solidFill>
          <a:ln/>
        </p:spPr>
      </p:sp>
      <p:sp>
        <p:nvSpPr>
          <p:cNvPr id="35" name="Shape 31"/>
          <p:cNvSpPr/>
          <p:nvPr/>
        </p:nvSpPr>
        <p:spPr>
          <a:xfrm>
            <a:off x="2204618" y="4417576"/>
            <a:ext cx="336499" cy="281196"/>
          </a:xfrm>
          <a:prstGeom prst="triangle">
            <a:avLst/>
          </a:prstGeom>
          <a:solidFill>
            <a:srgbClr val="AEB4E0"/>
          </a:solidFill>
          <a:ln/>
        </p:spPr>
      </p:sp>
      <p:sp>
        <p:nvSpPr>
          <p:cNvPr id="36" name="Text 32"/>
          <p:cNvSpPr/>
          <p:nvPr/>
        </p:nvSpPr>
        <p:spPr>
          <a:xfrm>
            <a:off x="685800" y="50017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Skrinshot qo‘shiladi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 будет добавлен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667512" y="54864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4CAF50"/>
          </a:solidFill>
          <a:ln/>
        </p:spPr>
      </p:sp>
      <p:sp>
        <p:nvSpPr>
          <p:cNvPr id="38" name="Text 34"/>
          <p:cNvSpPr/>
          <p:nvPr/>
        </p:nvSpPr>
        <p:spPr>
          <a:xfrm>
            <a:off x="1069848" y="54589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Ota-ona paneli</a:t>
            </a:r>
            <a:endParaRPr lang="en-US" sz="1150" dirty="0"/>
          </a:p>
        </p:txBody>
      </p:sp>
      <p:sp>
        <p:nvSpPr>
          <p:cNvPr id="39" name="Text 35"/>
          <p:cNvSpPr/>
          <p:nvPr/>
        </p:nvSpPr>
        <p:spPr>
          <a:xfrm>
            <a:off x="1069848" y="57150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Родительская панель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667512" y="595274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Haftalik hisobot va nima o‘zgargani — tushunarli tilda.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667512" y="611733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Еженедельный отчёт и объяснение изменений понятным языком.</a:t>
            </a:r>
            <a:endParaRPr lang="en-US" sz="750" dirty="0"/>
          </a:p>
        </p:txBody>
      </p:sp>
      <p:sp>
        <p:nvSpPr>
          <p:cNvPr id="42" name="Shape 38"/>
          <p:cNvSpPr/>
          <p:nvPr/>
        </p:nvSpPr>
        <p:spPr>
          <a:xfrm>
            <a:off x="4343400" y="3977640"/>
            <a:ext cx="3520440" cy="2331720"/>
          </a:xfrm>
          <a:prstGeom prst="roundRect">
            <a:avLst>
              <a:gd name="adj" fmla="val 5490"/>
            </a:avLst>
          </a:prstGeom>
          <a:solidFill>
            <a:srgbClr val="E8ECFA"/>
          </a:solidFill>
          <a:ln w="15875">
            <a:solidFill>
              <a:srgbClr val="D7DAF0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5768721" y="4032504"/>
            <a:ext cx="669798" cy="1399032"/>
          </a:xfrm>
          <a:prstGeom prst="roundRect">
            <a:avLst>
              <a:gd name="adj" fmla="val 12287"/>
            </a:avLst>
          </a:prstGeom>
          <a:solidFill>
            <a:srgbClr val="1B1830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pic>
        <p:nvPicPr>
          <p:cNvPr id="44" name="Image 2" descr="assets/screens/ai_assistant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805297" y="4069080"/>
            <a:ext cx="596646" cy="1325880"/>
          </a:xfrm>
          <a:prstGeom prst="rect">
            <a:avLst/>
          </a:prstGeom>
        </p:spPr>
      </p:pic>
      <p:sp>
        <p:nvSpPr>
          <p:cNvPr id="45" name="Shape 40"/>
          <p:cNvSpPr/>
          <p:nvPr/>
        </p:nvSpPr>
        <p:spPr>
          <a:xfrm>
            <a:off x="4507992" y="54864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9C27B0"/>
          </a:solidFill>
          <a:ln/>
        </p:spPr>
      </p:sp>
      <p:sp>
        <p:nvSpPr>
          <p:cNvPr id="46" name="Text 41"/>
          <p:cNvSpPr/>
          <p:nvPr/>
        </p:nvSpPr>
        <p:spPr>
          <a:xfrm>
            <a:off x="4910328" y="54589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AI-yordamchi</a:t>
            </a:r>
            <a:endParaRPr lang="en-US" sz="1150" dirty="0"/>
          </a:p>
        </p:txBody>
      </p:sp>
      <p:sp>
        <p:nvSpPr>
          <p:cNvPr id="47" name="Text 42"/>
          <p:cNvSpPr/>
          <p:nvPr/>
        </p:nvSpPr>
        <p:spPr>
          <a:xfrm>
            <a:off x="4910328" y="57150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ИИ-помощник</a:t>
            </a:r>
            <a:endParaRPr lang="en-US" sz="950" dirty="0"/>
          </a:p>
        </p:txBody>
      </p:sp>
      <p:sp>
        <p:nvSpPr>
          <p:cNvPr id="48" name="Text 43"/>
          <p:cNvSpPr/>
          <p:nvPr/>
        </p:nvSpPr>
        <p:spPr>
          <a:xfrm>
            <a:off x="4507992" y="595274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Taraqqiyotni tushuntiradi, uy mashqlarini tavsiya qiladi.</a:t>
            </a:r>
            <a:endParaRPr lang="en-US" sz="800" dirty="0"/>
          </a:p>
        </p:txBody>
      </p:sp>
      <p:sp>
        <p:nvSpPr>
          <p:cNvPr id="49" name="Text 44"/>
          <p:cNvSpPr/>
          <p:nvPr/>
        </p:nvSpPr>
        <p:spPr>
          <a:xfrm>
            <a:off x="4507992" y="611733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Объясняет прогресс, предлагает домашние упражнения.</a:t>
            </a:r>
            <a:endParaRPr lang="en-US" sz="750" dirty="0"/>
          </a:p>
        </p:txBody>
      </p:sp>
      <p:sp>
        <p:nvSpPr>
          <p:cNvPr id="50" name="Shape 45"/>
          <p:cNvSpPr/>
          <p:nvPr/>
        </p:nvSpPr>
        <p:spPr>
          <a:xfrm>
            <a:off x="8183880" y="3977640"/>
            <a:ext cx="3520440" cy="2331720"/>
          </a:xfrm>
          <a:prstGeom prst="roundRect">
            <a:avLst>
              <a:gd name="adj" fmla="val 5490"/>
            </a:avLst>
          </a:prstGeom>
          <a:solidFill>
            <a:srgbClr val="E8ECFA"/>
          </a:solidFill>
          <a:ln w="15875">
            <a:solidFill>
              <a:srgbClr val="C7CCEB"/>
            </a:solidFill>
            <a:prstDash val="dash"/>
          </a:ln>
        </p:spPr>
      </p:sp>
      <p:sp>
        <p:nvSpPr>
          <p:cNvPr id="51" name="Shape 46"/>
          <p:cNvSpPr/>
          <p:nvPr/>
        </p:nvSpPr>
        <p:spPr>
          <a:xfrm>
            <a:off x="9578340" y="4317797"/>
            <a:ext cx="731520" cy="453542"/>
          </a:xfrm>
          <a:prstGeom prst="roundRect">
            <a:avLst>
              <a:gd name="adj" fmla="val 10081"/>
            </a:avLst>
          </a:prstGeom>
          <a:solidFill>
            <a:srgbClr val="FFFFFF"/>
          </a:solidFill>
          <a:ln w="19050">
            <a:solidFill>
              <a:srgbClr val="AEB4E0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9680753" y="4390364"/>
            <a:ext cx="102413" cy="102413"/>
          </a:xfrm>
          <a:prstGeom prst="ellipse">
            <a:avLst/>
          </a:prstGeom>
          <a:solidFill>
            <a:srgbClr val="AEB4E0"/>
          </a:solidFill>
          <a:ln/>
        </p:spPr>
      </p:sp>
      <p:sp>
        <p:nvSpPr>
          <p:cNvPr id="53" name="Shape 48"/>
          <p:cNvSpPr/>
          <p:nvPr/>
        </p:nvSpPr>
        <p:spPr>
          <a:xfrm>
            <a:off x="9636862" y="4462930"/>
            <a:ext cx="365760" cy="226771"/>
          </a:xfrm>
          <a:prstGeom prst="triangle">
            <a:avLst/>
          </a:prstGeom>
          <a:solidFill>
            <a:srgbClr val="AEB4E0"/>
          </a:solidFill>
          <a:ln/>
        </p:spPr>
      </p:sp>
      <p:sp>
        <p:nvSpPr>
          <p:cNvPr id="54" name="Shape 49"/>
          <p:cNvSpPr/>
          <p:nvPr/>
        </p:nvSpPr>
        <p:spPr>
          <a:xfrm>
            <a:off x="9885578" y="4417576"/>
            <a:ext cx="336499" cy="281196"/>
          </a:xfrm>
          <a:prstGeom prst="triangle">
            <a:avLst/>
          </a:prstGeom>
          <a:solidFill>
            <a:srgbClr val="AEB4E0"/>
          </a:solidFill>
          <a:ln/>
        </p:spPr>
      </p:sp>
      <p:sp>
        <p:nvSpPr>
          <p:cNvPr id="55" name="Text 50"/>
          <p:cNvSpPr/>
          <p:nvPr/>
        </p:nvSpPr>
        <p:spPr>
          <a:xfrm>
            <a:off x="8366760" y="50017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Skrinshot qo‘shiladi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 будет добавлен</a:t>
            </a:r>
            <a:endParaRPr lang="en-US" sz="900" dirty="0"/>
          </a:p>
        </p:txBody>
      </p:sp>
      <p:sp>
        <p:nvSpPr>
          <p:cNvPr id="56" name="Shape 51"/>
          <p:cNvSpPr/>
          <p:nvPr/>
        </p:nvSpPr>
        <p:spPr>
          <a:xfrm>
            <a:off x="8348472" y="54864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FF8C42"/>
          </a:solidFill>
          <a:ln/>
        </p:spPr>
      </p:sp>
      <p:sp>
        <p:nvSpPr>
          <p:cNvPr id="57" name="Text 52"/>
          <p:cNvSpPr/>
          <p:nvPr/>
        </p:nvSpPr>
        <p:spPr>
          <a:xfrm>
            <a:off x="8750808" y="54589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Taraqqiyot</a:t>
            </a:r>
            <a:endParaRPr lang="en-US" sz="1150" dirty="0"/>
          </a:p>
        </p:txBody>
      </p:sp>
      <p:sp>
        <p:nvSpPr>
          <p:cNvPr id="58" name="Text 53"/>
          <p:cNvSpPr/>
          <p:nvPr/>
        </p:nvSpPr>
        <p:spPr>
          <a:xfrm>
            <a:off x="8750808" y="57150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</a:t>
            </a:r>
            <a:endParaRPr lang="en-US" sz="950" dirty="0"/>
          </a:p>
        </p:txBody>
      </p:sp>
      <p:sp>
        <p:nvSpPr>
          <p:cNvPr id="59" name="Text 54"/>
          <p:cNvSpPr/>
          <p:nvPr/>
        </p:nvSpPr>
        <p:spPr>
          <a:xfrm>
            <a:off x="8348472" y="595274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Egallangan harflar, so‘zlar va aniqlik grafiklari.</a:t>
            </a:r>
            <a:endParaRPr lang="en-US" sz="800" dirty="0"/>
          </a:p>
        </p:txBody>
      </p:sp>
      <p:sp>
        <p:nvSpPr>
          <p:cNvPr id="60" name="Text 55"/>
          <p:cNvSpPr/>
          <p:nvPr/>
        </p:nvSpPr>
        <p:spPr>
          <a:xfrm>
            <a:off x="8348472" y="611733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Освоенные буквы, слова и графики точности.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548640" y="62910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rasmlar — haqiqiy ilova skrinshotlari, maket emas. 3 ta joy hali kutilmoqda. / Все изображения — реальные скриншоты приложения, не макеты. 3 места ещё ожидают скриншотов.</a:t>
            </a:r>
            <a:endParaRPr lang="en-US" sz="900" dirty="0"/>
          </a:p>
        </p:txBody>
      </p:sp>
      <p:sp>
        <p:nvSpPr>
          <p:cNvPr id="63" name="Text 57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FlexiKeys qanday ishlaydi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работает FlexiKeys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20090" y="2834640"/>
            <a:ext cx="1234440" cy="1234440"/>
          </a:xfrm>
          <a:prstGeom prst="ellipse">
            <a:avLst/>
          </a:prstGeom>
          <a:solidFill>
            <a:srgbClr val="6C63E0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20090" y="283464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Bola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4507992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Ребёнок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080260" y="32506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617470" y="2834640"/>
            <a:ext cx="1234440" cy="1234440"/>
          </a:xfrm>
          <a:prstGeom prst="ellipse">
            <a:avLst/>
          </a:prstGeom>
          <a:solidFill>
            <a:srgbClr val="4A90D9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17470" y="283464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354580" y="420624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O‘rganish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354580" y="4507992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977640" y="32506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14850" y="2834640"/>
            <a:ext cx="1234440" cy="1234440"/>
          </a:xfrm>
          <a:prstGeom prst="ellipse">
            <a:avLst/>
          </a:prstGeom>
          <a:solidFill>
            <a:srgbClr val="E0567B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14850" y="283464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251960" y="420624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Mashq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251960" y="4507992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875020" y="32506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12230" y="2834640"/>
            <a:ext cx="1234440" cy="1234440"/>
          </a:xfrm>
          <a:prstGeom prst="ellipse">
            <a:avLst/>
          </a:prstGeom>
          <a:solidFill>
            <a:srgbClr val="FFC107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12230" y="283464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149340" y="420624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Mukofotlar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149340" y="4507992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Награды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72400" y="32506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309610" y="2834640"/>
            <a:ext cx="1234440" cy="1234440"/>
          </a:xfrm>
          <a:prstGeom prst="ellipse">
            <a:avLst/>
          </a:prstGeom>
          <a:solidFill>
            <a:srgbClr val="4CAF50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09610" y="283464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046720" y="420624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Taraqqiyot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046720" y="4507992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69780" y="32506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10206990" y="2834640"/>
            <a:ext cx="1234440" cy="1234440"/>
          </a:xfrm>
          <a:prstGeom prst="ellipse">
            <a:avLst/>
          </a:prstGeom>
          <a:solidFill>
            <a:srgbClr val="9C27B0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206990" y="283464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944100" y="420624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Ota-ona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944100" y="4507992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Родитель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bosqichda tizim signallarni yig‘adi va keyingi safar klaviatura, mashq va sur’atni yanada moslashtiradi.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каждом шаге система собирает сигналы и в следующий раз ещё точнее подстраивает клавиатуру, упражнения и темп.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imkoniyatlar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возможности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724912" cy="2148840"/>
          </a:xfrm>
          <a:prstGeom prst="roundRect">
            <a:avLst>
              <a:gd name="adj" fmla="val 6809"/>
            </a:avLst>
          </a:prstGeom>
          <a:solidFill>
            <a:srgbClr val="E8ECFA"/>
          </a:solidFill>
          <a:ln/>
        </p:spPr>
      </p:sp>
      <p:sp>
        <p:nvSpPr>
          <p:cNvPr id="5" name="Shape 3"/>
          <p:cNvSpPr/>
          <p:nvPr/>
        </p:nvSpPr>
        <p:spPr>
          <a:xfrm>
            <a:off x="1591056" y="1764792"/>
            <a:ext cx="640080" cy="640080"/>
          </a:xfrm>
          <a:prstGeom prst="ellipse">
            <a:avLst/>
          </a:prstGeom>
          <a:solidFill>
            <a:srgbClr val="6C63E0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91056" y="17647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Moslashuvchan o‘rganish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299008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Адаптивное обучение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64992" y="1508760"/>
            <a:ext cx="2724912" cy="2148840"/>
          </a:xfrm>
          <a:prstGeom prst="roundRect">
            <a:avLst>
              <a:gd name="adj" fmla="val 6809"/>
            </a:avLst>
          </a:prstGeom>
          <a:solidFill>
            <a:srgbClr val="E8ECFA"/>
          </a:solidFill>
          <a:ln/>
        </p:spPr>
      </p:sp>
      <p:sp>
        <p:nvSpPr>
          <p:cNvPr id="10" name="Shape 8"/>
          <p:cNvSpPr/>
          <p:nvPr/>
        </p:nvSpPr>
        <p:spPr>
          <a:xfrm>
            <a:off x="4407408" y="1764792"/>
            <a:ext cx="640080" cy="640080"/>
          </a:xfrm>
          <a:prstGeom prst="ellipse">
            <a:avLst/>
          </a:prstGeom>
          <a:solidFill>
            <a:srgbClr val="4A90D9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07408" y="17647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56432" y="2560320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Qulay klaviatura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56432" y="299008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Доступная клавиатура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81344" y="1508760"/>
            <a:ext cx="2724912" cy="2148840"/>
          </a:xfrm>
          <a:prstGeom prst="roundRect">
            <a:avLst>
              <a:gd name="adj" fmla="val 6809"/>
            </a:avLst>
          </a:prstGeom>
          <a:solidFill>
            <a:srgbClr val="E8ECFA"/>
          </a:solidFill>
          <a:ln/>
        </p:spPr>
      </p:sp>
      <p:sp>
        <p:nvSpPr>
          <p:cNvPr id="15" name="Shape 13"/>
          <p:cNvSpPr/>
          <p:nvPr/>
        </p:nvSpPr>
        <p:spPr>
          <a:xfrm>
            <a:off x="7223760" y="1764792"/>
            <a:ext cx="640080" cy="640080"/>
          </a:xfrm>
          <a:prstGeom prst="ellipse">
            <a:avLst/>
          </a:prstGeom>
          <a:solidFill>
            <a:srgbClr val="FFC107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23760" y="17647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72784" y="2560320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O‘yinlashtirish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72784" y="299008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Геймификация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97696" y="1508760"/>
            <a:ext cx="2724912" cy="2148840"/>
          </a:xfrm>
          <a:prstGeom prst="roundRect">
            <a:avLst>
              <a:gd name="adj" fmla="val 6809"/>
            </a:avLst>
          </a:prstGeom>
          <a:solidFill>
            <a:srgbClr val="E8ECFA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40112" y="1764792"/>
            <a:ext cx="640080" cy="640080"/>
          </a:xfrm>
          <a:prstGeom prst="ellipse">
            <a:avLst/>
          </a:prstGeom>
          <a:solidFill>
            <a:srgbClr val="4CAF50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40112" y="17647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089136" y="2560320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Taraqqiyotni kuzatish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089136" y="299008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Отслеживание прогресса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886200"/>
            <a:ext cx="2724912" cy="2148840"/>
          </a:xfrm>
          <a:prstGeom prst="roundRect">
            <a:avLst>
              <a:gd name="adj" fmla="val 6809"/>
            </a:avLst>
          </a:prstGeom>
          <a:solidFill>
            <a:srgbClr val="E8ECFA"/>
          </a:solidFill>
          <a:ln/>
        </p:spPr>
      </p:sp>
      <p:sp>
        <p:nvSpPr>
          <p:cNvPr id="25" name="Shape 23"/>
          <p:cNvSpPr/>
          <p:nvPr/>
        </p:nvSpPr>
        <p:spPr>
          <a:xfrm>
            <a:off x="1591056" y="4142232"/>
            <a:ext cx="640080" cy="640080"/>
          </a:xfrm>
          <a:prstGeom prst="ellipse">
            <a:avLst/>
          </a:prstGeom>
          <a:solidFill>
            <a:srgbClr val="E0567B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591056" y="4142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⌂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40080" y="4937760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Ota-ona paneli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536752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Родительская панель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64992" y="3886200"/>
            <a:ext cx="2724912" cy="2148840"/>
          </a:xfrm>
          <a:prstGeom prst="roundRect">
            <a:avLst>
              <a:gd name="adj" fmla="val 6809"/>
            </a:avLst>
          </a:prstGeom>
          <a:solidFill>
            <a:srgbClr val="E8ECFA"/>
          </a:solidFill>
          <a:ln/>
        </p:spPr>
      </p:sp>
      <p:sp>
        <p:nvSpPr>
          <p:cNvPr id="30" name="Shape 28"/>
          <p:cNvSpPr/>
          <p:nvPr/>
        </p:nvSpPr>
        <p:spPr>
          <a:xfrm>
            <a:off x="4407408" y="4142232"/>
            <a:ext cx="640080" cy="640080"/>
          </a:xfrm>
          <a:prstGeom prst="ellipse">
            <a:avLst/>
          </a:prstGeom>
          <a:solidFill>
            <a:srgbClr val="9C27B0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407408" y="4142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456432" y="4937760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AI-yordamchi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456432" y="536752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ИИ-помощник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81344" y="3886200"/>
            <a:ext cx="2724912" cy="2148840"/>
          </a:xfrm>
          <a:prstGeom prst="roundRect">
            <a:avLst>
              <a:gd name="adj" fmla="val 6809"/>
            </a:avLst>
          </a:prstGeom>
          <a:solidFill>
            <a:srgbClr val="E8ECFA"/>
          </a:solidFill>
          <a:ln/>
        </p:spPr>
      </p:sp>
      <p:sp>
        <p:nvSpPr>
          <p:cNvPr id="35" name="Shape 33"/>
          <p:cNvSpPr/>
          <p:nvPr/>
        </p:nvSpPr>
        <p:spPr>
          <a:xfrm>
            <a:off x="7223760" y="4142232"/>
            <a:ext cx="640080" cy="640080"/>
          </a:xfrm>
          <a:prstGeom prst="ellipse">
            <a:avLst/>
          </a:prstGeom>
          <a:solidFill>
            <a:srgbClr val="FF8C42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223760" y="4142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272784" y="4937760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Ko‘p tillilik (EN·UZ·RU)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272784" y="536752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Многоязычность (EN·UZ·RU)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Kimlarga foydali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 это полезно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74520"/>
            <a:ext cx="685800" cy="685800"/>
          </a:xfrm>
          <a:prstGeom prst="ellipse">
            <a:avLst/>
          </a:prstGeom>
          <a:solidFill>
            <a:srgbClr val="6C63E0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☺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91640" y="1920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Bolalar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91640" y="23042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Дети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611880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874520"/>
            <a:ext cx="685800" cy="685800"/>
          </a:xfrm>
          <a:prstGeom prst="ellipse">
            <a:avLst/>
          </a:prstGeom>
          <a:solidFill>
            <a:srgbClr val="E0567B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40680" y="1920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Ota-onalar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23042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Родители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611880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1874520"/>
            <a:ext cx="685800" cy="685800"/>
          </a:xfrm>
          <a:prstGeom prst="ellipse">
            <a:avLst/>
          </a:prstGeom>
          <a:solidFill>
            <a:srgbClr val="4A90D9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6676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✚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189720" y="1920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Reabilitatsiya markazlari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89720" y="23042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Реабилитационные центры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611880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251960"/>
            <a:ext cx="685800" cy="685800"/>
          </a:xfrm>
          <a:prstGeom prst="ellipse">
            <a:avLst/>
          </a:prstGeom>
          <a:solidFill>
            <a:srgbClr val="4CAF50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4251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691640" y="4297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Inklyuziv maktablar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91640" y="46817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Инклюзивные школы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97680" y="3931920"/>
            <a:ext cx="3611880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4251960"/>
            <a:ext cx="685800" cy="685800"/>
          </a:xfrm>
          <a:prstGeom prst="ellipse">
            <a:avLst/>
          </a:prstGeom>
          <a:solidFill>
            <a:srgbClr val="FFC107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17720" y="4251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40680" y="4297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Logopedlar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40680" y="46817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Логопеды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3931920"/>
            <a:ext cx="3611880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6760" y="4251960"/>
            <a:ext cx="685800" cy="685800"/>
          </a:xfrm>
          <a:prstGeom prst="ellipse">
            <a:avLst/>
          </a:prstGeom>
          <a:solidFill>
            <a:srgbClr val="9C27B0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366760" y="4251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189720" y="4297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Ergoterapevtlar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89720" y="46817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Эрготерапевты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Sinov bosqichi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тестирования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FlexiKeys hozir haqiqiy oilalar va mutaxassislar bilan sinov bosqichiga kirmoqda. Sizni real sharoitda sinab ko‘rishga taklif qilamiz.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FlexiKeys сейчас выходит на этап тестирования с реальными семьями и специалистами. Приглашаем вас протестировать продукт в реальных условиях.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2606040" cy="2834640"/>
          </a:xfrm>
          <a:prstGeom prst="roundRect">
            <a:avLst>
              <a:gd name="adj" fmla="val 5614"/>
            </a:avLst>
          </a:prstGeom>
          <a:solidFill>
            <a:srgbClr val="E8ECFA"/>
          </a:solidFill>
          <a:ln w="15875">
            <a:solidFill>
              <a:srgbClr val="C7CCE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48640" y="32918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6B7186"/>
                </a:solidFill>
              </a:rPr>
              <a:t>＋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85800" y="4206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Haqiqiy suratlar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4526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Реальные фото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4937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Sinovdan keyin qo‘shiladi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5166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Добавим после теста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337560" y="2651760"/>
            <a:ext cx="2606040" cy="2834640"/>
          </a:xfrm>
          <a:prstGeom prst="roundRect">
            <a:avLst>
              <a:gd name="adj" fmla="val 5614"/>
            </a:avLst>
          </a:prstGeom>
          <a:solidFill>
            <a:srgbClr val="E8ECFA"/>
          </a:solidFill>
          <a:ln w="15875">
            <a:solidFill>
              <a:srgbClr val="C7CCEB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337560" y="32918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6B7186"/>
                </a:solidFill>
              </a:rPr>
              <a:t>＋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474720" y="4206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Videolar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4526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74720" y="4937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Sinovdan keyin qo‘shiladi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74720" y="5166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Добавим после теста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26480" y="2651760"/>
            <a:ext cx="2606040" cy="2834640"/>
          </a:xfrm>
          <a:prstGeom prst="roundRect">
            <a:avLst>
              <a:gd name="adj" fmla="val 5614"/>
            </a:avLst>
          </a:prstGeom>
          <a:solidFill>
            <a:srgbClr val="E8ECFA"/>
          </a:solidFill>
          <a:ln w="15875">
            <a:solidFill>
              <a:srgbClr val="C7CCEB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126480" y="32918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6B7186"/>
                </a:solidFill>
              </a:rPr>
              <a:t>＋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263640" y="4206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Ota-onalar fikri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4526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Отзывы родителей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63640" y="4937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Sinovdan keyin qo‘shiladi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263640" y="5166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Добавим после теста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915400" y="2651760"/>
            <a:ext cx="2606040" cy="2834640"/>
          </a:xfrm>
          <a:prstGeom prst="roundRect">
            <a:avLst>
              <a:gd name="adj" fmla="val 5614"/>
            </a:avLst>
          </a:prstGeom>
          <a:solidFill>
            <a:srgbClr val="E8ECFA"/>
          </a:solidFill>
          <a:ln w="15875">
            <a:solidFill>
              <a:srgbClr val="C7CCEB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8915400" y="32918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6B7186"/>
                </a:solidFill>
              </a:rPr>
              <a:t>＋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9052560" y="4206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Terapevtlar fikri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052560" y="4526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Отзывы терапевтов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052560" y="4937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Sinovdan keyin qo‘shiladi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052560" y="5166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Добавим после теста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48640" y="62910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bo'limlar hech qanday to'qib chiqarilgan fikr yoki natijani o'z ichiga olmaydi. / Этот раздел не содержит вымышленных отзывов или результатов.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1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6C63E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200400"/>
            <a:ext cx="6400800" cy="6400800"/>
          </a:xfrm>
          <a:prstGeom prst="ellipse">
            <a:avLst/>
          </a:prstGeom>
          <a:solidFill>
            <a:srgbClr val="E0567B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91440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Bizning maqsadimiz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0" y="14173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C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Наша миссия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210312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bola, imkoniyatidan qat’i nazar, raqamli dunyoda mustaqil bo‘lishi — texnologiya esa bola bilan birga o‘sishi kerak.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788920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9C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каждый ребёнок, независимо от своих возможностей, обрёл цифровую самостоятельность — а технология росла вместе с ним.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5236" y="3977640"/>
            <a:ext cx="3383280" cy="1920240"/>
          </a:xfrm>
          <a:prstGeom prst="roundRect">
            <a:avLst>
              <a:gd name="adj" fmla="val 7619"/>
            </a:avLst>
          </a:prstGeom>
          <a:solidFill>
            <a:srgbClr val="2E2755"/>
          </a:solidFill>
          <a:ln/>
        </p:spPr>
      </p:sp>
      <p:sp>
        <p:nvSpPr>
          <p:cNvPr id="9" name="Shape 7"/>
          <p:cNvSpPr/>
          <p:nvPr/>
        </p:nvSpPr>
        <p:spPr>
          <a:xfrm>
            <a:off x="2116836" y="4251960"/>
            <a:ext cx="640080" cy="640080"/>
          </a:xfrm>
          <a:prstGeom prst="ellipse">
            <a:avLst/>
          </a:prstGeom>
          <a:solidFill>
            <a:srgbClr val="FFC107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16836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2396" y="5029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Ta’lim hamma uchun ochiq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2396" y="5440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9C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Образование, доступное каждому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02836" y="3977640"/>
            <a:ext cx="3383280" cy="1920240"/>
          </a:xfrm>
          <a:prstGeom prst="roundRect">
            <a:avLst>
              <a:gd name="adj" fmla="val 7619"/>
            </a:avLst>
          </a:prstGeom>
          <a:solidFill>
            <a:srgbClr val="2E2755"/>
          </a:solidFill>
          <a:ln/>
        </p:spPr>
      </p:sp>
      <p:sp>
        <p:nvSpPr>
          <p:cNvPr id="14" name="Shape 12"/>
          <p:cNvSpPr/>
          <p:nvPr/>
        </p:nvSpPr>
        <p:spPr>
          <a:xfrm>
            <a:off x="5774436" y="4251960"/>
            <a:ext cx="640080" cy="640080"/>
          </a:xfrm>
          <a:prstGeom prst="ellipse">
            <a:avLst/>
          </a:prstGeom>
          <a:solidFill>
            <a:srgbClr val="4CAF50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74436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39996" y="5029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Raqamli mustaqillik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39996" y="5440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9C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Цифровая независимость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60436" y="3977640"/>
            <a:ext cx="3383280" cy="1920240"/>
          </a:xfrm>
          <a:prstGeom prst="roundRect">
            <a:avLst>
              <a:gd name="adj" fmla="val 7619"/>
            </a:avLst>
          </a:prstGeom>
          <a:solidFill>
            <a:srgbClr val="2E2755"/>
          </a:solidFill>
          <a:ln/>
        </p:spPr>
      </p:sp>
      <p:sp>
        <p:nvSpPr>
          <p:cNvPr id="19" name="Shape 17"/>
          <p:cNvSpPr/>
          <p:nvPr/>
        </p:nvSpPr>
        <p:spPr>
          <a:xfrm>
            <a:off x="9432036" y="4251960"/>
            <a:ext cx="640080" cy="640080"/>
          </a:xfrm>
          <a:prstGeom prst="ellipse">
            <a:avLst/>
          </a:prstGeom>
          <a:solidFill>
            <a:srgbClr val="E0567B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432036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197596" y="5029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Bola bilan birga o‘sadigan texnologiya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197596" y="5440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9C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Технология, растущая вместе с ребёнком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1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loud_masc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4396" y="50292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920240"/>
            <a:ext cx="12188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Rahmat!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0" y="25146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Спасибо!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0" y="32004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Sinovda ishtirok etishni yoki hamkorlikni xohlaysizmi? Biz bilan bog‘laning.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0" y="35204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9C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Хотите присоединиться к тестированию или сотрудничеству? Свяжитесь с нами.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108960" y="4114800"/>
            <a:ext cx="457200" cy="457200"/>
          </a:xfrm>
          <a:prstGeom prst="ellipse">
            <a:avLst/>
          </a:prstGeom>
          <a:solidFill>
            <a:srgbClr val="6C63E0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1089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749040" y="4096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C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Veb-sayt / Сайт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749040" y="435254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Tayyorlanmoqda / Скоро — [WEBSITE URL]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108960" y="4681728"/>
            <a:ext cx="457200" cy="457200"/>
          </a:xfrm>
          <a:prstGeom prst="ellipse">
            <a:avLst/>
          </a:prstGeom>
          <a:solidFill>
            <a:srgbClr val="6C63E0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108960" y="4681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749040" y="4663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C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749040" y="49194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t.me/flexikeys1  (@flexikeys1)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108960" y="5248656"/>
            <a:ext cx="457200" cy="457200"/>
          </a:xfrm>
          <a:prstGeom prst="ellipse">
            <a:avLst/>
          </a:prstGeom>
          <a:solidFill>
            <a:srgbClr val="6C63E0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108960" y="5248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749040" y="5230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C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3749040" y="54864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[INSTAGRAM HANDLE — @ ... ]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108960" y="5815584"/>
            <a:ext cx="457200" cy="457200"/>
          </a:xfrm>
          <a:prstGeom prst="ellipse">
            <a:avLst/>
          </a:prstGeom>
          <a:solidFill>
            <a:srgbClr val="6C63E0"/>
          </a:solidFill>
          <a:ln/>
          <a:effectLst>
            <a:outerShdw sx="100000" sy="100000" kx="0" ky="0" algn="bl" rotWithShape="0" blurRad="127000" dist="38100" dir="5400000">
              <a:srgbClr val="3A3560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3108960" y="5815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3749040" y="57972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C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3749040" y="60533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[CONTACT EMAIL]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692640" y="4023360"/>
            <a:ext cx="16916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9692640" y="4434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1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601200" y="57607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A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[qo‘shiladi / будет добавлен]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FlexiKeys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FlexiKeys</dc:creator>
  <cp:lastModifiedBy>FlexiKeys</cp:lastModifiedBy>
  <cp:revision>1</cp:revision>
  <dcterms:created xsi:type="dcterms:W3CDTF">2026-07-15T20:14:32Z</dcterms:created>
  <dcterms:modified xsi:type="dcterms:W3CDTF">2026-07-15T20:14:32Z</dcterms:modified>
</cp:coreProperties>
</file>